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4"/>
  </p:notesMasterIdLst>
  <p:sldIdLst>
    <p:sldId id="409" r:id="rId3"/>
    <p:sldId id="258" r:id="rId4"/>
    <p:sldId id="294" r:id="rId5"/>
    <p:sldId id="802" r:id="rId6"/>
    <p:sldId id="794" r:id="rId7"/>
    <p:sldId id="803" r:id="rId8"/>
    <p:sldId id="800" r:id="rId9"/>
    <p:sldId id="804" r:id="rId10"/>
    <p:sldId id="806" r:id="rId11"/>
    <p:sldId id="807" r:id="rId12"/>
    <p:sldId id="80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2C5BB-80B2-4ED3-BF70-31ED63CC638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1B030-9218-4782-91C4-DF4BA8B30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53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02F00-C535-204F-B4B5-528FB2DC4F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71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37395D-33DE-5D42-A2E8-3486FD99F3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61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87B15-3B81-4276-B696-D6CC11D42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028CE9-FDEE-795E-8C2D-05DE31FF3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48BC36-E7BF-184C-20A5-8525522C9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8455D-252B-9843-946A-75C45B78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A9FB59-46A8-798D-B791-11C468C7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098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B63B6-3586-4B75-DF9A-6A79A2C3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FC89BF-B458-2235-3EDE-64F9B49A0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15A376-F432-3367-120C-7D453468C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D80865-F3F8-2F5E-45FA-8DECF197B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C7C1D8-4684-1092-93D6-33C24096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2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10176-CCE6-0B72-8603-C3857DB29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7346ED-FE4E-3770-1C73-D962E561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5FCF25-A0A5-4F8E-94C3-67733AFB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AF3588-421B-28A0-354A-8F35D930F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F8EE42-1752-751C-4F62-469EFDD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52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009AE-0B21-5504-FEE2-BFF2FD77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B786DE-F7CA-4D53-6F89-E537766BA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6DFA5F-4640-DF7E-43FC-E8AD955C7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6CBF8-D410-C166-BA81-A3A30DD09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38BC92-E76F-647E-391E-03BE19990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AACB24-3A9E-A713-4465-68691F6D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96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C4642-2424-2496-F6D0-252E13F0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E8361A-25EC-ECC9-15CF-DAE15590F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629CAB-823A-7245-1A4A-C0875F8CD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0CC0BC-A197-7298-F890-AF62454C0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D4BE81-577B-67A4-24D3-9DD7A7A14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5CEDF0-80E1-A9DA-2B35-8CC4230A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E118BE-7B0F-F659-9207-9ED75456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6994DA-4DF8-956D-EB26-709AABF2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1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B6DC0-B833-F458-AB13-9DF669D3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D74032-5A4E-ED01-8E1C-1C6B576E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BF705C-4EB6-656C-59AE-F5F075C3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C3C868-9EF3-B7A2-1BA9-F40EC3F1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34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70C93F-E3C3-3387-8341-7E988591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B7359F-9567-C2AF-E66A-94EFAC7E8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626FD-E894-F661-8933-AECE42FB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04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C0AF7-6ED2-9CC0-85BB-7447BEEFC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32AA49-1E3B-9188-B1DD-E9C5B6F6B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23C24-6B22-38A0-8A16-266CB06F1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B6DCA9-0123-927C-8ECF-0D80F5B9C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62355C-765E-814A-88A1-ECD542C4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B0D87F-EE49-61CB-BFA3-784FF1F5B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81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DFA3D-6184-F5C5-AEC3-116EFF8F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425676-22B2-0F13-6CE0-51BADB61B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581A26-9B2E-E07D-B60B-171360BFF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EFBA8B-0C93-6D73-2E84-6F8DD05E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551685-DB49-886D-B801-CFE057E4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3DECBE-5381-075A-8676-FF29000E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01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25020-3149-5FFB-DE62-9CF9219C3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4DABCD-B0CE-5FF3-33CC-6609529EA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910AFF-88AE-DF1B-8F94-AF62457C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9044F7-3B42-D478-C1CE-D30635A5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6C2A8D-C4FA-B4F0-4523-E1A17205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22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0B5174-7745-64BD-6904-0C3E5C6D5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E4CDA2-E367-678A-7DB8-4CF54DE42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EEBB79-DE7F-047E-01D8-262C84AF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0B8EB-C147-807B-C362-EFAB150F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18F152-75E1-14AE-8746-5CA7647D2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392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753165" y="1604799"/>
            <a:ext cx="4958792" cy="4954149"/>
          </a:xfrm>
          <a:prstGeom prst="rect">
            <a:avLst/>
          </a:prstGeom>
          <a:solidFill>
            <a:schemeClr val="bg1"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719402" y="1604800"/>
            <a:ext cx="4992556" cy="6720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3200" dirty="0"/>
              <a:t>Title: Font size 24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719402" y="2468896"/>
            <a:ext cx="4992556" cy="4128457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1867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514542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ing/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9978F3-40AA-B047-B077-E6C1CE004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1830048"/>
            <a:ext cx="6882938" cy="789709"/>
          </a:xfrm>
        </p:spPr>
        <p:txBody>
          <a:bodyPr/>
          <a:lstStyle>
            <a:lvl1pPr algn="l">
              <a:defRPr sz="3200" b="1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57762F7-94EF-0744-BA0E-BF26083BC2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36880" y="2619757"/>
            <a:ext cx="5933759" cy="622300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4790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0/50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5583407" cy="579193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325757"/>
            <a:ext cx="5583407" cy="40305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42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>
          <p15:clr>
            <a:srgbClr val="FBAE40"/>
          </p15:clr>
        </p15:guide>
        <p15:guide id="2" pos="16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0/50 uni blue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3"/>
            <a:ext cx="5679441" cy="421114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155371"/>
            <a:ext cx="5583407" cy="4200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680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/3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3"/>
            <a:ext cx="5679441" cy="421114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1" y="2155371"/>
            <a:ext cx="7355840" cy="4200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486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/3 uni blue and image,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3"/>
            <a:ext cx="5679441" cy="421114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155371"/>
            <a:ext cx="7479553" cy="4200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14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uni blue bg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10937239" cy="579193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325757"/>
            <a:ext cx="10937239" cy="40305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32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6A737C0-B872-156B-57AC-713C158F77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7999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69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10937239" cy="579193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325757"/>
            <a:ext cx="10937239" cy="40305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rgbClr val="002060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34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 + 2 images,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5583407" cy="796943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3333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661920"/>
            <a:ext cx="5583407" cy="36944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5" y="3524490"/>
            <a:ext cx="5999965" cy="3333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267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 + 2 images, white + blu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B9D8B3-A168-0447-13B5-72CD0F28C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0" y="1647172"/>
            <a:ext cx="5583407" cy="796943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3333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661920"/>
            <a:ext cx="5583407" cy="36944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5" y="3524490"/>
            <a:ext cx="5999965" cy="3333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pic>
        <p:nvPicPr>
          <p:cNvPr id="10" name="Picture 9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76B1C5CD-C20D-B5EA-F6BE-53C0100C7A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9845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39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,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560" y="1680883"/>
            <a:ext cx="5679440" cy="1658666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</p:spTree>
    <p:extLst>
      <p:ext uri="{BB962C8B-B14F-4D97-AF65-F5344CB8AC3E}">
        <p14:creationId xmlns:p14="http://schemas.microsoft.com/office/powerpoint/2010/main" val="276677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, blue +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E5AB5-7A17-50DA-4242-6D14E324CA0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096000" cy="3339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560" y="1680883"/>
            <a:ext cx="5679440" cy="165866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  <p:pic>
        <p:nvPicPr>
          <p:cNvPr id="3" name="Picture 2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1FF62CBD-D6E9-1D28-4469-4A083650DE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9845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46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6D21C2-F4C4-057A-B26F-B75AA31F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DB9ED-6004-EE1F-2076-7FBE7F7D6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4E0C97-9C5B-054D-F08A-FC3A33E3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96B2-8F7E-4278-9E8F-A231F0FA4A97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523A2F-B8D9-15EB-A86C-7F92F650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211CF0-3E3C-3ACB-179C-120B42F4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D8BA-02A2-4C47-9933-0A69F2FCC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13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F69B59-499D-2971-8557-50D187AB7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CADCCB-3EE8-E903-979D-2B78494D1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2AFA2F-63F6-6A7D-FEC3-A79B29908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EC161-41E0-4E15-A086-54CF972CC3D0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2ECDD-C773-8AF5-7702-375AFE153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9E571-41D6-10A8-8AE6-DBB2D1B6D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8C532-2EF5-40FF-A618-ADB254239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62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BDB88-416D-2EA9-D090-7EC02B7DD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DFB0F-4570-4E46-88F7-D5DC70EA90D0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8006A-4400-3137-F66D-BC98965EF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125AD-3024-1F85-F919-E0F79325F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C0719288-B710-76E1-C708-E70CAF484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825625"/>
            <a:ext cx="10837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836656F-18A5-F5B5-73B1-E32ED102B96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F26B43"/>
          </p15:clr>
        </p15:guide>
        <p15:guide id="2" pos="3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C4FFA10-58FE-2A4B-936E-1D79FC194841}"/>
              </a:ext>
            </a:extLst>
          </p:cNvPr>
          <p:cNvSpPr txBox="1">
            <a:spLocks/>
          </p:cNvSpPr>
          <p:nvPr/>
        </p:nvSpPr>
        <p:spPr>
          <a:xfrm>
            <a:off x="527382" y="1851158"/>
            <a:ext cx="111252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algn="ctr"/>
            <a:r>
              <a:rPr lang="en-US" altLang="zh-CN" sz="4800" b="1" dirty="0">
                <a:solidFill>
                  <a:srgbClr val="16346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Investigating Factors That Influence High IMDB Film Ratings</a:t>
            </a:r>
            <a:endParaRPr lang="zh-CN" altLang="en-US" sz="4800" b="1" dirty="0">
              <a:solidFill>
                <a:srgbClr val="1634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2">
            <a:extLst>
              <a:ext uri="{FF2B5EF4-FFF2-40B4-BE49-F238E27FC236}">
                <a16:creationId xmlns:a16="http://schemas.microsoft.com/office/drawing/2014/main" id="{86982DBD-3932-216F-B174-ADDAAD66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B6861-6CDC-6036-F147-243870A9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" y="1746564"/>
            <a:ext cx="5583407" cy="57919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Background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AE62F-9D00-ABB2-89ED-8E8A76A76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</a:rPr>
              <a:t>Movies are a common form of entertainment, many people look at online ratings before choosing what to watch.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</a:rPr>
              <a:t>IMDB is a well-known platform where viewers rate films from 0 to 10.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 dirty="0"/>
              <a:t>D</a:t>
            </a:r>
            <a:r>
              <a:rPr lang="en-US" kern="0" dirty="0">
                <a:solidFill>
                  <a:schemeClr val="tx1"/>
                </a:solidFill>
              </a:rPr>
              <a:t>ifferent features of a film may influence how audiences rate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kern="0" dirty="0">
              <a:solidFill>
                <a:schemeClr val="tx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D87100-88FC-4FF8-D94D-0BEA2ADA1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F4DC624-64AF-1B81-B854-37CC4F8AA369}"/>
              </a:ext>
            </a:extLst>
          </p:cNvPr>
          <p:cNvSpPr txBox="1">
            <a:spLocks/>
          </p:cNvSpPr>
          <p:nvPr/>
        </p:nvSpPr>
        <p:spPr>
          <a:xfrm>
            <a:off x="6192035" y="1746564"/>
            <a:ext cx="5583407" cy="579193"/>
          </a:xfrm>
          <a:prstGeom prst="rect">
            <a:avLst/>
          </a:prstGeom>
        </p:spPr>
        <p:txBody>
          <a:bodyPr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114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Research Question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114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9972D61-332D-46FE-61DF-4F3269F3CB84}"/>
              </a:ext>
            </a:extLst>
          </p:cNvPr>
          <p:cNvSpPr txBox="1">
            <a:spLocks/>
          </p:cNvSpPr>
          <p:nvPr/>
        </p:nvSpPr>
        <p:spPr>
          <a:xfrm>
            <a:off x="6192035" y="2325757"/>
            <a:ext cx="5583407" cy="40305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11451"/>
                </a:solidFill>
                <a:effectLst/>
                <a:uLnTx/>
                <a:uFillTx/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Which film characteristics influence whether a movie receives a rating higher than 7?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36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9F4BD5-C51A-AF19-BF92-2786E82C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0DDB1-56C6-24B9-F373-3DB7F82F5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/>
              <a:t>Variable description: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 err="1"/>
              <a:t>Film_id</a:t>
            </a:r>
            <a:r>
              <a:rPr lang="en-US" altLang="zh-CN" dirty="0"/>
              <a:t>: unique identifier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Year: release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Length: film duration (minutes)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Budget :production budget (million USD)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Votes: number of votes received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Genre: film category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Rating: IMDB score (0-10)</a:t>
            </a:r>
          </a:p>
          <a:p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7709FAF-803F-0B03-B7D2-71EAA9DCB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graphicFrame>
        <p:nvGraphicFramePr>
          <p:cNvPr id="3" name="图片占位符 4">
            <a:extLst>
              <a:ext uri="{FF2B5EF4-FFF2-40B4-BE49-F238E27FC236}">
                <a16:creationId xmlns:a16="http://schemas.microsoft.com/office/drawing/2014/main" id="{8AB42744-A0A5-67CD-54EE-BD772D22C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972124"/>
              </p:ext>
            </p:extLst>
          </p:nvPr>
        </p:nvGraphicFramePr>
        <p:xfrm>
          <a:off x="6431280" y="1408448"/>
          <a:ext cx="5043435" cy="3467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81145">
                  <a:extLst>
                    <a:ext uri="{9D8B030D-6E8A-4147-A177-3AD203B41FA5}">
                      <a16:colId xmlns:a16="http://schemas.microsoft.com/office/drawing/2014/main" val="2458282558"/>
                    </a:ext>
                  </a:extLst>
                </a:gridCol>
                <a:gridCol w="1681145">
                  <a:extLst>
                    <a:ext uri="{9D8B030D-6E8A-4147-A177-3AD203B41FA5}">
                      <a16:colId xmlns:a16="http://schemas.microsoft.com/office/drawing/2014/main" val="2197946691"/>
                    </a:ext>
                  </a:extLst>
                </a:gridCol>
                <a:gridCol w="1681145">
                  <a:extLst>
                    <a:ext uri="{9D8B030D-6E8A-4147-A177-3AD203B41FA5}">
                      <a16:colId xmlns:a16="http://schemas.microsoft.com/office/drawing/2014/main" val="213979692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Missing Values Summary</a:t>
                      </a:r>
                    </a:p>
                  </a:txBody>
                  <a:tcPr marL="38100" marR="38100" marT="30480" marB="3048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44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38100" marR="38100" marT="381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Missing Count</a:t>
                      </a:r>
                    </a:p>
                  </a:txBody>
                  <a:tcPr marL="38100" marR="38100" marT="381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Missing (%)</a:t>
                      </a:r>
                    </a:p>
                  </a:txBody>
                  <a:tcPr marL="38100" marR="38100" marT="381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933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film_id</a:t>
                      </a:r>
                      <a:endParaRPr lang="en-US" sz="1800" b="0" kern="1200" dirty="0">
                        <a:solidFill>
                          <a:srgbClr val="011451"/>
                        </a:solidFill>
                        <a:effectLst/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38100" marR="38100" marT="60960" marB="609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38100" marR="38100" marT="60960" marB="609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47778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year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3258470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length</a:t>
                      </a:r>
                    </a:p>
                  </a:txBody>
                  <a:tcPr marL="38100" marR="38100" marT="60960" marB="6096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38100" marR="38100" marT="60960" marB="6096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4.23</a:t>
                      </a:r>
                    </a:p>
                  </a:txBody>
                  <a:tcPr marL="38100" marR="38100" marT="60960" marB="6096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346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budget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3596866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votes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414795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genre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33489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rating</a:t>
                      </a:r>
                    </a:p>
                  </a:txBody>
                  <a:tcPr marL="38100" marR="38100" marT="60960" marB="609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800" b="0" kern="120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38100" marR="38100" marT="60960" marB="609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4307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18F3175-41A7-2A11-9A5C-1DE4DD401F4D}"/>
              </a:ext>
            </a:extLst>
          </p:cNvPr>
          <p:cNvSpPr txBox="1"/>
          <p:nvPr/>
        </p:nvSpPr>
        <p:spPr>
          <a:xfrm>
            <a:off x="6431280" y="512638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1451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2874 films,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1451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1451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 variables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1451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Only length has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3799137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9F4BD5-C51A-AF19-BF92-2786E82C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br>
              <a:rPr lang="en-US" dirty="0"/>
            </a:b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7709FAF-803F-0B03-B7D2-71EAA9DCB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graphicFrame>
        <p:nvGraphicFramePr>
          <p:cNvPr id="3" name="内容占位符 16">
            <a:extLst>
              <a:ext uri="{FF2B5EF4-FFF2-40B4-BE49-F238E27FC236}">
                <a16:creationId xmlns:a16="http://schemas.microsoft.com/office/drawing/2014/main" id="{5BE7135F-54EF-F6A1-E2CD-728A65CB09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9718885"/>
              </p:ext>
            </p:extLst>
          </p:nvPr>
        </p:nvGraphicFramePr>
        <p:xfrm>
          <a:off x="1663629" y="2226365"/>
          <a:ext cx="8864742" cy="330325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77457">
                  <a:extLst>
                    <a:ext uri="{9D8B030D-6E8A-4147-A177-3AD203B41FA5}">
                      <a16:colId xmlns:a16="http://schemas.microsoft.com/office/drawing/2014/main" val="1092674336"/>
                    </a:ext>
                  </a:extLst>
                </a:gridCol>
                <a:gridCol w="1477457">
                  <a:extLst>
                    <a:ext uri="{9D8B030D-6E8A-4147-A177-3AD203B41FA5}">
                      <a16:colId xmlns:a16="http://schemas.microsoft.com/office/drawing/2014/main" val="1062421340"/>
                    </a:ext>
                  </a:extLst>
                </a:gridCol>
                <a:gridCol w="1477457">
                  <a:extLst>
                    <a:ext uri="{9D8B030D-6E8A-4147-A177-3AD203B41FA5}">
                      <a16:colId xmlns:a16="http://schemas.microsoft.com/office/drawing/2014/main" val="883241052"/>
                    </a:ext>
                  </a:extLst>
                </a:gridCol>
                <a:gridCol w="1477457">
                  <a:extLst>
                    <a:ext uri="{9D8B030D-6E8A-4147-A177-3AD203B41FA5}">
                      <a16:colId xmlns:a16="http://schemas.microsoft.com/office/drawing/2014/main" val="3656569796"/>
                    </a:ext>
                  </a:extLst>
                </a:gridCol>
                <a:gridCol w="1477457">
                  <a:extLst>
                    <a:ext uri="{9D8B030D-6E8A-4147-A177-3AD203B41FA5}">
                      <a16:colId xmlns:a16="http://schemas.microsoft.com/office/drawing/2014/main" val="3505378313"/>
                    </a:ext>
                  </a:extLst>
                </a:gridCol>
                <a:gridCol w="1477457">
                  <a:extLst>
                    <a:ext uri="{9D8B030D-6E8A-4147-A177-3AD203B41FA5}">
                      <a16:colId xmlns:a16="http://schemas.microsoft.com/office/drawing/2014/main" val="3678340664"/>
                    </a:ext>
                  </a:extLst>
                </a:gridCol>
              </a:tblGrid>
              <a:tr h="412272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Descriptive Statistics of Film Variables</a:t>
                      </a:r>
                    </a:p>
                  </a:txBody>
                  <a:tcPr marL="38100" marR="38100" marT="30480" marB="3048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828638"/>
                  </a:ext>
                </a:extLst>
              </a:tr>
              <a:tr h="4403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38100" marR="38100" marT="381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Mean</a:t>
                      </a:r>
                    </a:p>
                  </a:txBody>
                  <a:tcPr marL="38100" marR="38100" marT="381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Median</a:t>
                      </a:r>
                    </a:p>
                  </a:txBody>
                  <a:tcPr marL="38100" marR="38100" marT="381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SD</a:t>
                      </a:r>
                    </a:p>
                  </a:txBody>
                  <a:tcPr marL="38100" marR="38100" marT="381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Min</a:t>
                      </a:r>
                    </a:p>
                  </a:txBody>
                  <a:tcPr marL="38100" marR="38100" marT="381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Max</a:t>
                      </a:r>
                    </a:p>
                  </a:txBody>
                  <a:tcPr marL="38100" marR="38100" marT="381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753333"/>
                  </a:ext>
                </a:extLst>
              </a:tr>
              <a:tr h="48723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year</a:t>
                      </a:r>
                    </a:p>
                  </a:txBody>
                  <a:tcPr marL="38100" marR="38100" marT="60960" marB="609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1,975.71</a:t>
                      </a:r>
                    </a:p>
                  </a:txBody>
                  <a:tcPr marL="38100" marR="38100" marT="60960" marB="609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1,983.00</a:t>
                      </a:r>
                    </a:p>
                  </a:txBody>
                  <a:tcPr marL="38100" marR="38100" marT="60960" marB="609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24.27</a:t>
                      </a:r>
                    </a:p>
                  </a:txBody>
                  <a:tcPr marL="38100" marR="38100" marT="60960" marB="609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1,895.00</a:t>
                      </a:r>
                    </a:p>
                  </a:txBody>
                  <a:tcPr marL="38100" marR="38100" marT="60960" marB="609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2,005.00</a:t>
                      </a:r>
                    </a:p>
                  </a:txBody>
                  <a:tcPr marL="38100" marR="38100" marT="60960" marB="609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82395899"/>
                  </a:ext>
                </a:extLst>
              </a:tr>
              <a:tr h="48723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length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81.57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90.00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39.54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555.00</a:t>
                      </a: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2978343754"/>
                  </a:ext>
                </a:extLst>
              </a:tr>
              <a:tr h="48723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budget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11.99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12.10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2.97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1.20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23.40</a:t>
                      </a: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1209702139"/>
                  </a:ext>
                </a:extLst>
              </a:tr>
              <a:tr h="48723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votes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677.58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30.00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3,860.04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5.00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92,437.00</a:t>
                      </a: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149004499"/>
                  </a:ext>
                </a:extLst>
              </a:tr>
              <a:tr h="48723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rating</a:t>
                      </a:r>
                    </a:p>
                  </a:txBody>
                  <a:tcPr marL="38100" marR="38100" marT="60960" marB="609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5.41</a:t>
                      </a:r>
                    </a:p>
                  </a:txBody>
                  <a:tcPr marL="38100" marR="38100" marT="60960" marB="609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4.70</a:t>
                      </a:r>
                    </a:p>
                  </a:txBody>
                  <a:tcPr marL="38100" marR="38100" marT="60960" marB="609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2.08</a:t>
                      </a:r>
                    </a:p>
                  </a:txBody>
                  <a:tcPr marL="38100" marR="38100" marT="60960" marB="609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L="38100" marR="38100" marT="60960" marB="609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20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9.20</a:t>
                      </a:r>
                    </a:p>
                  </a:txBody>
                  <a:tcPr marL="38100" marR="38100" marT="60960" marB="609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3050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27AE98D-AFE4-CF95-EC72-0FB25570143F}"/>
              </a:ext>
            </a:extLst>
          </p:cNvPr>
          <p:cNvSpPr txBox="1"/>
          <p:nvPr/>
        </p:nvSpPr>
        <p:spPr>
          <a:xfrm>
            <a:off x="1485231" y="5647144"/>
            <a:ext cx="94127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Most films in the sample have similar production budgets While votes variable shows extremely high variability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Most films in the data receive moderate ratings.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062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B23F-E790-EACF-C377-EC834DCB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1040" y="1647172"/>
            <a:ext cx="5583407" cy="579193"/>
          </a:xfrm>
        </p:spPr>
        <p:txBody>
          <a:bodyPr/>
          <a:lstStyle/>
          <a:p>
            <a:r>
              <a:rPr lang="en-US" dirty="0"/>
              <a:t>Variable Distributions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2C46-F329-B7A9-3FA9-2682BCDE6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41779" y="2302973"/>
            <a:ext cx="4835857" cy="16442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Budget </a:t>
            </a:r>
            <a:r>
              <a:rPr lang="en-US" altLang="zh-CN" dirty="0"/>
              <a:t>follows a roughly symmetric distribution with</a:t>
            </a:r>
            <a:r>
              <a:rPr lang="en-US" dirty="0"/>
              <a:t> </a:t>
            </a:r>
            <a:r>
              <a:rPr lang="en-US" altLang="zh-CN" dirty="0"/>
              <a:t>small </a:t>
            </a:r>
            <a:r>
              <a:rPr lang="en-US" dirty="0"/>
              <a:t>variation.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Length has large variation.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Rating shows a bimodal distribution.</a:t>
            </a:r>
            <a:endParaRPr lang="en-US" dirty="0"/>
          </a:p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8707F9-B2B0-7CBC-DB1C-83A714C59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5E89E5C-25E3-BB58-A97F-D9CCC13ED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60" y="1647172"/>
            <a:ext cx="6440180" cy="4600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6BB2442-EC59-8AC7-487F-575F92DFA308}"/>
              </a:ext>
            </a:extLst>
          </p:cNvPr>
          <p:cNvSpPr txBox="1"/>
          <p:nvPr/>
        </p:nvSpPr>
        <p:spPr>
          <a:xfrm>
            <a:off x="5415918" y="4631636"/>
            <a:ext cx="6096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11451"/>
                </a:solidFill>
                <a:effectLst/>
                <a:uLnTx/>
                <a:uFillTx/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Votes is right-skewed → Log-transform</a:t>
            </a:r>
          </a:p>
        </p:txBody>
      </p:sp>
    </p:spTree>
    <p:extLst>
      <p:ext uri="{BB962C8B-B14F-4D97-AF65-F5344CB8AC3E}">
        <p14:creationId xmlns:p14="http://schemas.microsoft.com/office/powerpoint/2010/main" val="151919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B23F-E790-EACF-C377-EC834DCB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Distributions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2C46-F329-B7A9-3FA9-2682BCDE6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Drama and Action are the most common genres, with the highest number of films, followed by Comedy.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Animation and Documentary appear much less frequently, while Short films are relatively rare.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Romance has the smallest number of observations.</a:t>
            </a:r>
          </a:p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8707F9-B2B0-7CBC-DB1C-83A714C59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75C3AB8-737A-7308-25FA-04614FED5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963" y="1387532"/>
            <a:ext cx="5716107" cy="408293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CAE5B63-52A9-CE8A-BB05-82B40E9FAEDE}"/>
              </a:ext>
            </a:extLst>
          </p:cNvPr>
          <p:cNvSpPr txBox="1"/>
          <p:nvPr/>
        </p:nvSpPr>
        <p:spPr>
          <a:xfrm>
            <a:off x="416560" y="5624745"/>
            <a:ext cx="10962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The distribution of genres is uneven, with most films concentrated in Drama, Action, and Comedy categories</a:t>
            </a:r>
            <a:r>
              <a:rPr lang="en-US" altLang="zh-CN" sz="1800" b="0" i="0" dirty="0">
                <a:solidFill>
                  <a:srgbClr val="0F111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zh-CN" altLang="en-US" sz="1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46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EFE9-9797-3332-56D3-70625194F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119" y="637010"/>
            <a:ext cx="6705600" cy="421114"/>
          </a:xfrm>
        </p:spPr>
        <p:txBody>
          <a:bodyPr/>
          <a:lstStyle/>
          <a:p>
            <a:r>
              <a:rPr lang="en-US" dirty="0"/>
              <a:t>High-Rated vs. Low-Rated Films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FD80128-94A5-9A87-C0A3-4035E73D8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463750"/>
              </p:ext>
            </p:extLst>
          </p:nvPr>
        </p:nvGraphicFramePr>
        <p:xfrm>
          <a:off x="6829061" y="1723947"/>
          <a:ext cx="4829739" cy="432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9913">
                  <a:extLst>
                    <a:ext uri="{9D8B030D-6E8A-4147-A177-3AD203B41FA5}">
                      <a16:colId xmlns:a16="http://schemas.microsoft.com/office/drawing/2014/main" val="939773932"/>
                    </a:ext>
                  </a:extLst>
                </a:gridCol>
                <a:gridCol w="1609913">
                  <a:extLst>
                    <a:ext uri="{9D8B030D-6E8A-4147-A177-3AD203B41FA5}">
                      <a16:colId xmlns:a16="http://schemas.microsoft.com/office/drawing/2014/main" val="1871267106"/>
                    </a:ext>
                  </a:extLst>
                </a:gridCol>
                <a:gridCol w="1609913">
                  <a:extLst>
                    <a:ext uri="{9D8B030D-6E8A-4147-A177-3AD203B41FA5}">
                      <a16:colId xmlns:a16="http://schemas.microsoft.com/office/drawing/2014/main" val="1376694312"/>
                    </a:ext>
                  </a:extLst>
                </a:gridCol>
              </a:tblGrid>
              <a:tr h="705527">
                <a:tc gridSpan="3"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Summary Statistics by Rating Category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1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05036"/>
                  </a:ext>
                </a:extLst>
              </a:tr>
              <a:tr h="5535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Rating category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rgbClr val="011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rating &lt;= 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rgbClr val="011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rating &gt; 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rgbClr val="011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975236"/>
                  </a:ext>
                </a:extLst>
              </a:tr>
              <a:tr h="29306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Count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1867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1007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50046762"/>
                  </a:ext>
                </a:extLst>
              </a:tr>
              <a:tr h="5535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Mean year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1,976.31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1,974.60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4551900"/>
                  </a:ext>
                </a:extLst>
              </a:tr>
              <a:tr h="5535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Mean length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95.83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55.14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282197"/>
                  </a:ext>
                </a:extLst>
              </a:tr>
              <a:tr h="5535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Mean budget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11.47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12.95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9111268"/>
                  </a:ext>
                </a:extLst>
              </a:tr>
              <a:tr h="5535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Mean votes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827.35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399.92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65810518"/>
                  </a:ext>
                </a:extLst>
              </a:tr>
              <a:tr h="5535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Mean rating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rgbClr val="011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3.99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rgbClr val="011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8.03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rgbClr val="011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483630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0F8168DF-1596-5A1E-4290-12BA7BC19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00" y="1723947"/>
            <a:ext cx="6295860" cy="449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EFE9-9797-3332-56D3-70625194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br>
              <a:rPr lang="en-US" dirty="0"/>
            </a:br>
            <a:r>
              <a:rPr lang="en-US" dirty="0"/>
              <a:t>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BA05A26-2C83-DF43-8E3B-2FAE90969880}"/>
                  </a:ext>
                </a:extLst>
              </p:cNvPr>
              <p:cNvSpPr txBox="1"/>
              <p:nvPr/>
            </p:nvSpPr>
            <p:spPr>
              <a:xfrm>
                <a:off x="1253837" y="5653195"/>
                <a:ext cx="10406449" cy="540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8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US" altLang="zh-CN" sz="18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</m:e>
                    </m:func>
                    <m:f>
                      <m:fPr>
                        <m:ctrlPr>
                          <a:rPr lang="en-US" altLang="zh-CN" sz="18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80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h𝑖𝑔h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𝑟𝑎𝑡𝑖𝑛𝑔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num>
                      <m:den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h𝑖𝑔h</m:t>
                        </m:r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𝑟𝑎𝑡𝑖𝑛𝑔</m:t>
                        </m:r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=1)</m:t>
                        </m:r>
                      </m:den>
                    </m:f>
                    <m:r>
                      <a:rPr lang="en-US" altLang="zh-CN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zh-CN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⋅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𝑦𝑒𝑎𝑟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⋅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𝑙𝑒𝑛𝑔𝑡h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⋅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𝑏𝑢𝑑𝑔𝑒𝑡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⋅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𝑣𝑜𝑡𝑒𝑠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⋅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𝑔𝑒𝑛𝑟𝑒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BA05A26-2C83-DF43-8E3B-2FAE90969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837" y="5653195"/>
                <a:ext cx="10406449" cy="540661"/>
              </a:xfrm>
              <a:prstGeom prst="rect">
                <a:avLst/>
              </a:prstGeom>
              <a:blipFill>
                <a:blip r:embed="rId2"/>
                <a:stretch>
                  <a:fillRect l="-176" b="-5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849A26F-890B-407A-6C44-4AEA24181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004295"/>
              </p:ext>
            </p:extLst>
          </p:nvPr>
        </p:nvGraphicFramePr>
        <p:xfrm>
          <a:off x="5039365" y="912487"/>
          <a:ext cx="6692041" cy="4546683"/>
        </p:xfrm>
        <a:graphic>
          <a:graphicData uri="http://schemas.openxmlformats.org/drawingml/2006/table">
            <a:tbl>
              <a:tblPr/>
              <a:tblGrid>
                <a:gridCol w="1731433">
                  <a:extLst>
                    <a:ext uri="{9D8B030D-6E8A-4147-A177-3AD203B41FA5}">
                      <a16:colId xmlns:a16="http://schemas.microsoft.com/office/drawing/2014/main" val="3723374854"/>
                    </a:ext>
                  </a:extLst>
                </a:gridCol>
                <a:gridCol w="945384">
                  <a:extLst>
                    <a:ext uri="{9D8B030D-6E8A-4147-A177-3AD203B41FA5}">
                      <a16:colId xmlns:a16="http://schemas.microsoft.com/office/drawing/2014/main" val="1268159178"/>
                    </a:ext>
                  </a:extLst>
                </a:gridCol>
                <a:gridCol w="1338408">
                  <a:extLst>
                    <a:ext uri="{9D8B030D-6E8A-4147-A177-3AD203B41FA5}">
                      <a16:colId xmlns:a16="http://schemas.microsoft.com/office/drawing/2014/main" val="812577257"/>
                    </a:ext>
                  </a:extLst>
                </a:gridCol>
                <a:gridCol w="1338408">
                  <a:extLst>
                    <a:ext uri="{9D8B030D-6E8A-4147-A177-3AD203B41FA5}">
                      <a16:colId xmlns:a16="http://schemas.microsoft.com/office/drawing/2014/main" val="2714249417"/>
                    </a:ext>
                  </a:extLst>
                </a:gridCol>
                <a:gridCol w="1338408">
                  <a:extLst>
                    <a:ext uri="{9D8B030D-6E8A-4147-A177-3AD203B41FA5}">
                      <a16:colId xmlns:a16="http://schemas.microsoft.com/office/drawing/2014/main" val="736060029"/>
                    </a:ext>
                  </a:extLst>
                </a:gridCol>
              </a:tblGrid>
              <a:tr h="294094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01145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Descriptive Statistics of Film Variables</a:t>
                      </a:r>
                    </a:p>
                  </a:txBody>
                  <a:tcPr marL="78285" marR="78285" marT="39142" marB="39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56093"/>
                  </a:ext>
                </a:extLst>
              </a:tr>
              <a:tr h="287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32619" marR="32619" marT="32619" marB="39142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Estimate</a:t>
                      </a:r>
                    </a:p>
                  </a:txBody>
                  <a:tcPr marL="32619" marR="32619" marT="32619" marB="39142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1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Std Error</a:t>
                      </a:r>
                    </a:p>
                  </a:txBody>
                  <a:tcPr marL="32619" marR="32619" marT="32619" marB="39142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1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z value</a:t>
                      </a:r>
                    </a:p>
                  </a:txBody>
                  <a:tcPr marL="32619" marR="32619" marT="32619" marB="39142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1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p-value</a:t>
                      </a:r>
                    </a:p>
                  </a:txBody>
                  <a:tcPr marL="32619" marR="32619" marT="32619" marB="39142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18141"/>
                  </a:ext>
                </a:extLst>
              </a:tr>
              <a:tr h="404443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(Intercept)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16.227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5.779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2.808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0.005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634146"/>
                  </a:ext>
                </a:extLst>
              </a:tr>
              <a:tr h="319102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year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0.006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0.003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2.157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0.031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97955"/>
                  </a:ext>
                </a:extLst>
              </a:tr>
              <a:tr h="319102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length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0.062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0.004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16.255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057839"/>
                  </a:ext>
                </a:extLst>
              </a:tr>
              <a:tr h="319102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budget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0.519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0.030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17.430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080705"/>
                  </a:ext>
                </a:extLst>
              </a:tr>
              <a:tr h="319102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log_votes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0.048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0.042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1.140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0.254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5940"/>
                  </a:ext>
                </a:extLst>
              </a:tr>
              <a:tr h="319102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 dirty="0" err="1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genreAnimation</a:t>
                      </a:r>
                      <a:endParaRPr lang="en-US" sz="1500" b="0" dirty="0">
                        <a:solidFill>
                          <a:srgbClr val="011451"/>
                        </a:solidFill>
                        <a:effectLst/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0.428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0.339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1.265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0.206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711733"/>
                  </a:ext>
                </a:extLst>
              </a:tr>
              <a:tr h="319102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genreComedy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3.338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0.182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18.328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361079"/>
                  </a:ext>
                </a:extLst>
              </a:tr>
              <a:tr h="538175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 dirty="0" err="1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genreDocumentary</a:t>
                      </a:r>
                      <a:endParaRPr lang="en-US" sz="1500" b="0" dirty="0">
                        <a:solidFill>
                          <a:srgbClr val="011451"/>
                        </a:solidFill>
                        <a:effectLst/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5.310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0.388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13.702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352506"/>
                  </a:ext>
                </a:extLst>
              </a:tr>
              <a:tr h="319102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genreDrama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1.411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0.231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6.119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057265"/>
                  </a:ext>
                </a:extLst>
              </a:tr>
              <a:tr h="319102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genreRomance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0.605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0.893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zh-CN" altLang="en-US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</a:t>
                      </a:r>
                      <a:r>
                        <a:rPr lang="en-US" altLang="zh-CN" sz="1500" b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0.677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0.499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08283"/>
                  </a:ext>
                </a:extLst>
              </a:tr>
              <a:tr h="319102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b="0" dirty="0" err="1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genreShort</a:t>
                      </a:r>
                      <a:endParaRPr lang="en-US" sz="1500" b="0" dirty="0">
                        <a:solidFill>
                          <a:srgbClr val="011451"/>
                        </a:solidFill>
                        <a:effectLst/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4.332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1.051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4.121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b="0" dirty="0">
                          <a:solidFill>
                            <a:srgbClr val="011451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0.000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03977"/>
                  </a:ext>
                </a:extLst>
              </a:tr>
            </a:tbl>
          </a:graphicData>
        </a:graphic>
      </p:graphicFrame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4B7B0D2-4F20-450E-3650-46418B095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1" y="2600960"/>
            <a:ext cx="4551684" cy="37553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Films with larger budgets and more recent release years are more likely to receive ratings above 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Longer films are less likely to receive high ratings.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Film genre plays an important role.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948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FD7C10E-2BB1-68CC-B5B4-F5DEFF554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" y="1647172"/>
            <a:ext cx="6593840" cy="796943"/>
          </a:xfrm>
        </p:spPr>
        <p:txBody>
          <a:bodyPr/>
          <a:lstStyle/>
          <a:p>
            <a:r>
              <a:rPr lang="en-US" dirty="0"/>
              <a:t>Odds Ratios &amp; Model prediction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2A02BC-1533-1A7B-A9D2-3BF3A7550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464" y="2184400"/>
            <a:ext cx="6868494" cy="40093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Films with larger budgets have higher odds of receiving high ratings.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Longer films are less likely to receive ratings above 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Films in genres such as Comedy, Documentary, and Short films are more likely to receive high ratings.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Ratings ≤ 7: 1733 films are correctly classified.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Ratings &gt; 7: 837 films are correctly.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model performs reasonably well.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A7B1B73-7302-3EB2-31A3-DD2C64F96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347520"/>
              </p:ext>
            </p:extLst>
          </p:nvPr>
        </p:nvGraphicFramePr>
        <p:xfrm>
          <a:off x="7169023" y="268444"/>
          <a:ext cx="4201162" cy="4351341"/>
        </p:xfrm>
        <a:graphic>
          <a:graphicData uri="http://schemas.openxmlformats.org/drawingml/2006/table">
            <a:tbl>
              <a:tblPr/>
              <a:tblGrid>
                <a:gridCol w="2100581">
                  <a:extLst>
                    <a:ext uri="{9D8B030D-6E8A-4147-A177-3AD203B41FA5}">
                      <a16:colId xmlns:a16="http://schemas.microsoft.com/office/drawing/2014/main" val="3293287160"/>
                    </a:ext>
                  </a:extLst>
                </a:gridCol>
                <a:gridCol w="2100581">
                  <a:extLst>
                    <a:ext uri="{9D8B030D-6E8A-4147-A177-3AD203B41FA5}">
                      <a16:colId xmlns:a16="http://schemas.microsoft.com/office/drawing/2014/main" val="3813874074"/>
                    </a:ext>
                  </a:extLst>
                </a:gridCol>
              </a:tblGrid>
              <a:tr h="31314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latin typeface="+mj-lt"/>
                          <a:ea typeface="Cambria" panose="02040503050406030204" pitchFamily="18" charset="0"/>
                        </a:rPr>
                        <a:t>Odds Ratios from Logistic Regression</a:t>
                      </a:r>
                    </a:p>
                  </a:txBody>
                  <a:tcPr marL="78285" marR="78285" marT="39142" marB="391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446944"/>
                  </a:ext>
                </a:extLst>
              </a:tr>
              <a:tr h="306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Variable</a:t>
                      </a:r>
                    </a:p>
                  </a:txBody>
                  <a:tcPr marL="32619" marR="32619" marT="32619" marB="39142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1" dirty="0" err="1">
                          <a:solidFill>
                            <a:srgbClr val="333333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Odds_Ratio</a:t>
                      </a:r>
                      <a:endParaRPr lang="en-US" sz="1500" b="1" dirty="0">
                        <a:solidFill>
                          <a:srgbClr val="333333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32619" marR="32619" marT="32619" marB="39142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126132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+mn-lt"/>
                          <a:ea typeface="Cambria" panose="02040503050406030204" pitchFamily="18" charset="0"/>
                        </a:rPr>
                        <a:t>(Intercept)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0.000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556549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year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dirty="0">
                          <a:effectLst/>
                          <a:latin typeface="+mn-lt"/>
                          <a:ea typeface="Cambria" panose="02040503050406030204" pitchFamily="18" charset="0"/>
                        </a:rPr>
                        <a:t>1.006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71816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+mn-lt"/>
                          <a:ea typeface="Cambria" panose="02040503050406030204" pitchFamily="18" charset="0"/>
                        </a:rPr>
                        <a:t>length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0.940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354389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+mn-lt"/>
                          <a:ea typeface="Cambria" panose="02040503050406030204" pitchFamily="18" charset="0"/>
                        </a:rPr>
                        <a:t>budget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dirty="0">
                          <a:effectLst/>
                          <a:latin typeface="+mn-lt"/>
                          <a:ea typeface="Cambria" panose="02040503050406030204" pitchFamily="18" charset="0"/>
                        </a:rPr>
                        <a:t>1.680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477888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log_votes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1.049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337660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genreAnimation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dirty="0">
                          <a:effectLst/>
                          <a:latin typeface="+mn-lt"/>
                          <a:ea typeface="Cambria" panose="02040503050406030204" pitchFamily="18" charset="0"/>
                        </a:rPr>
                        <a:t>0.652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098241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+mn-lt"/>
                          <a:ea typeface="Cambria" panose="02040503050406030204" pitchFamily="18" charset="0"/>
                        </a:rPr>
                        <a:t>genreComedy</a:t>
                      </a:r>
                      <a:endParaRPr lang="en-US" sz="1500" dirty="0"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28.170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348683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genreDocumentary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dirty="0">
                          <a:effectLst/>
                          <a:latin typeface="+mn-lt"/>
                          <a:ea typeface="Cambria" panose="02040503050406030204" pitchFamily="18" charset="0"/>
                        </a:rPr>
                        <a:t>202.395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32414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+mn-lt"/>
                          <a:ea typeface="Cambria" panose="02040503050406030204" pitchFamily="18" charset="0"/>
                        </a:rPr>
                        <a:t>genreDrama</a:t>
                      </a:r>
                      <a:endParaRPr lang="en-US" sz="1500" dirty="0"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dirty="0">
                          <a:effectLst/>
                          <a:latin typeface="+mn-lt"/>
                          <a:ea typeface="Cambria" panose="02040503050406030204" pitchFamily="18" charset="0"/>
                        </a:rPr>
                        <a:t>0.244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469291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genreRomance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>
                          <a:effectLst/>
                          <a:latin typeface="+mn-lt"/>
                          <a:ea typeface="Cambria" panose="02040503050406030204" pitchFamily="18" charset="0"/>
                        </a:rPr>
                        <a:t>0.546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231455"/>
                  </a:ext>
                </a:extLst>
              </a:tr>
              <a:tr h="33923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+mn-lt"/>
                          <a:ea typeface="Cambria" panose="02040503050406030204" pitchFamily="18" charset="0"/>
                        </a:rPr>
                        <a:t>genreShort</a:t>
                      </a:r>
                      <a:endParaRPr lang="en-US" sz="1500" dirty="0"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dirty="0">
                          <a:effectLst/>
                          <a:latin typeface="+mn-lt"/>
                          <a:ea typeface="Cambria" panose="02040503050406030204" pitchFamily="18" charset="0"/>
                        </a:rPr>
                        <a:t>76.104</a:t>
                      </a:r>
                    </a:p>
                  </a:txBody>
                  <a:tcPr marL="32619" marR="32619" marT="52190" marB="5219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267593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D322417-91D3-3A4F-9EF8-C9784ECB2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859629"/>
              </p:ext>
            </p:extLst>
          </p:nvPr>
        </p:nvGraphicFramePr>
        <p:xfrm>
          <a:off x="7179183" y="4888229"/>
          <a:ext cx="4201161" cy="1333500"/>
        </p:xfrm>
        <a:graphic>
          <a:graphicData uri="http://schemas.openxmlformats.org/drawingml/2006/table">
            <a:tbl>
              <a:tblPr/>
              <a:tblGrid>
                <a:gridCol w="1400387">
                  <a:extLst>
                    <a:ext uri="{9D8B030D-6E8A-4147-A177-3AD203B41FA5}">
                      <a16:colId xmlns:a16="http://schemas.microsoft.com/office/drawing/2014/main" val="4139507942"/>
                    </a:ext>
                  </a:extLst>
                </a:gridCol>
                <a:gridCol w="1400387">
                  <a:extLst>
                    <a:ext uri="{9D8B030D-6E8A-4147-A177-3AD203B41FA5}">
                      <a16:colId xmlns:a16="http://schemas.microsoft.com/office/drawing/2014/main" val="718731416"/>
                    </a:ext>
                  </a:extLst>
                </a:gridCol>
                <a:gridCol w="1400387">
                  <a:extLst>
                    <a:ext uri="{9D8B030D-6E8A-4147-A177-3AD203B41FA5}">
                      <a16:colId xmlns:a16="http://schemas.microsoft.com/office/drawing/2014/main" val="8977804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Confusion Matrix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92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Predicted</a:t>
                      </a:r>
                    </a:p>
                  </a:txBody>
                  <a:tcPr marL="38100" marR="38100" marT="381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rating &lt;= 7</a:t>
                      </a:r>
                    </a:p>
                  </a:txBody>
                  <a:tcPr marL="38100" marR="38100" marT="3810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rating &gt; 7</a:t>
                      </a:r>
                    </a:p>
                  </a:txBody>
                  <a:tcPr marL="38100" marR="38100" marT="3810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543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rating &lt;= 7</a:t>
                      </a:r>
                    </a:p>
                  </a:txBody>
                  <a:tcPr marL="38100" marR="3810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1733</a:t>
                      </a:r>
                    </a:p>
                  </a:txBody>
                  <a:tcPr marL="38100" marR="3810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170</a:t>
                      </a:r>
                    </a:p>
                  </a:txBody>
                  <a:tcPr marL="38100" marR="3810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47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rating &gt; 7</a:t>
                      </a:r>
                    </a:p>
                  </a:txBody>
                  <a:tcPr marL="38100" marR="38100" marT="60960" marB="609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134</a:t>
                      </a:r>
                    </a:p>
                  </a:txBody>
                  <a:tcPr marL="38100" marR="38100" marT="60960" marB="609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altLang="zh-CN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837</a:t>
                      </a:r>
                    </a:p>
                  </a:txBody>
                  <a:tcPr marL="38100" marR="38100" marT="60960" marB="609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081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80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9F4BD5-C51A-AF19-BF92-2786E82C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0DDB1-56C6-24B9-F373-3DB7F82F5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1451"/>
                </a:solidFill>
              </a:rPr>
              <a:t>Budget, film length, release year, and genre are important factors associated with high IMDB ratings.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1451"/>
                </a:solidFill>
              </a:rPr>
              <a:t>Films with larger budgets and more recent release years are more likely to receive ratings above 7, while longer films are less likely to receive high ratings.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1451"/>
                </a:solidFill>
              </a:rPr>
              <a:t>Comedy, Documentary, and Short films show a higher probability of receiving high ratings.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1451"/>
                </a:solidFill>
              </a:rPr>
              <a:t>Misclassifications are relatively low, indicating the model performs well.</a:t>
            </a:r>
          </a:p>
          <a:p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7709FAF-803F-0B03-B7D2-71EAA9DCB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970463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82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B727-4BE8-F78B-197A-356EB2B4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D31BC6B-559B-1E75-C985-44FB4212C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2" name="Title 3">
            <a:extLst>
              <a:ext uri="{FF2B5EF4-FFF2-40B4-BE49-F238E27FC236}">
                <a16:creationId xmlns:a16="http://schemas.microsoft.com/office/drawing/2014/main" id="{60F99CE8-3F04-C29F-209E-BDAEE1DFE035}"/>
              </a:ext>
            </a:extLst>
          </p:cNvPr>
          <p:cNvSpPr txBox="1">
            <a:spLocks/>
          </p:cNvSpPr>
          <p:nvPr/>
        </p:nvSpPr>
        <p:spPr>
          <a:xfrm>
            <a:off x="436880" y="1830048"/>
            <a:ext cx="6882938" cy="789709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11451"/>
                </a:solidFill>
                <a:effectLst/>
                <a:uLnTx/>
                <a:uFillTx/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Thanks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srgbClr val="011451"/>
                </a:solidFill>
              </a:rPr>
              <a:t> Q&amp;A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011451"/>
              </a:solidFill>
              <a:effectLst/>
              <a:uLnTx/>
              <a:uFillTx/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198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University of Glasgow colours">
      <a:dk1>
        <a:srgbClr val="011451"/>
      </a:dk1>
      <a:lt1>
        <a:srgbClr val="FFFFFF"/>
      </a:lt1>
      <a:dk2>
        <a:srgbClr val="000000"/>
      </a:dk2>
      <a:lt2>
        <a:srgbClr val="E8E8E8"/>
      </a:lt2>
      <a:accent1>
        <a:srgbClr val="011451"/>
      </a:accent1>
      <a:accent2>
        <a:srgbClr val="F2D25C"/>
      </a:accent2>
      <a:accent3>
        <a:srgbClr val="4DBBC6"/>
      </a:accent3>
      <a:accent4>
        <a:srgbClr val="E98BAF"/>
      </a:accent4>
      <a:accent5>
        <a:srgbClr val="A5A1CE"/>
      </a:accent5>
      <a:accent6>
        <a:srgbClr val="81C071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725</Words>
  <Application>Microsoft Office PowerPoint</Application>
  <PresentationFormat>宽屏</PresentationFormat>
  <Paragraphs>234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Aptos</vt:lpstr>
      <vt:lpstr>Arial</vt:lpstr>
      <vt:lpstr>Cambria</vt:lpstr>
      <vt:lpstr>Cambria Math</vt:lpstr>
      <vt:lpstr>Office 主题​​</vt:lpstr>
      <vt:lpstr>Office Theme</vt:lpstr>
      <vt:lpstr>PowerPoint 演示文稿</vt:lpstr>
      <vt:lpstr>Background </vt:lpstr>
      <vt:lpstr>Missing Values</vt:lpstr>
      <vt:lpstr>Exploratory Data Analysis </vt:lpstr>
      <vt:lpstr>Variable Distributions </vt:lpstr>
      <vt:lpstr>Variable Distributions</vt:lpstr>
      <vt:lpstr>High-Rated vs. Low-Rated Films </vt:lpstr>
      <vt:lpstr>Logistic Regression Result</vt:lpstr>
      <vt:lpstr>Odds Ratios &amp; Model prediction </vt:lpstr>
      <vt:lpstr>Conclusions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 z</dc:creator>
  <cp:lastModifiedBy>q z</cp:lastModifiedBy>
  <cp:revision>9</cp:revision>
  <dcterms:created xsi:type="dcterms:W3CDTF">2026-03-21T18:23:36Z</dcterms:created>
  <dcterms:modified xsi:type="dcterms:W3CDTF">2026-03-22T10:30:31Z</dcterms:modified>
</cp:coreProperties>
</file>